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Poppins Bold" charset="1" panose="00000800000000000000"/>
      <p:regular r:id="rId11"/>
    </p:embeddedFont>
    <p:embeddedFont>
      <p:font typeface="Poppins" charset="1" panose="00000500000000000000"/>
      <p:regular r:id="rId12"/>
    </p:embeddedFont>
    <p:embeddedFont>
      <p:font typeface="Alice Italics" charset="1" panose="00000500000000000000"/>
      <p:regular r:id="rId13"/>
    </p:embeddedFont>
    <p:embeddedFont>
      <p:font typeface="Poppins Medium" charset="1" panose="000006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29550" y="1285875"/>
            <a:ext cx="7629525" cy="9001125"/>
          </a:xfrm>
          <a:custGeom>
            <a:avLst/>
            <a:gdLst/>
            <a:ahLst/>
            <a:cxnLst/>
            <a:rect r="r" b="b" t="t" l="l"/>
            <a:pathLst>
              <a:path h="9001125" w="7629525">
                <a:moveTo>
                  <a:pt x="0" y="0"/>
                </a:moveTo>
                <a:lnTo>
                  <a:pt x="7629525" y="0"/>
                </a:lnTo>
                <a:lnTo>
                  <a:pt x="7629525" y="9001125"/>
                </a:lnTo>
                <a:lnTo>
                  <a:pt x="0" y="9001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72925" y="1066800"/>
            <a:ext cx="5886450" cy="7724775"/>
          </a:xfrm>
          <a:custGeom>
            <a:avLst/>
            <a:gdLst/>
            <a:ahLst/>
            <a:cxnLst/>
            <a:rect r="r" b="b" t="t" l="l"/>
            <a:pathLst>
              <a:path h="7724775" w="5886450">
                <a:moveTo>
                  <a:pt x="0" y="0"/>
                </a:moveTo>
                <a:lnTo>
                  <a:pt x="5886450" y="0"/>
                </a:lnTo>
                <a:lnTo>
                  <a:pt x="5886450" y="7724775"/>
                </a:lnTo>
                <a:lnTo>
                  <a:pt x="0" y="7724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32688" y="3179146"/>
            <a:ext cx="7808976" cy="101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3"/>
              </a:lnSpc>
            </a:pPr>
            <a:r>
              <a:rPr lang="en-US" sz="719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INTRODUÇÃO AO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2688" y="4520870"/>
            <a:ext cx="4224528" cy="216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6"/>
              </a:lnSpc>
            </a:pPr>
            <a:r>
              <a:rPr lang="en-US" sz="15276" b="true">
                <a:solidFill>
                  <a:srgbClr val="E16A00"/>
                </a:solidFill>
                <a:latin typeface="Poppins Bold"/>
                <a:ea typeface="Poppins Bold"/>
                <a:cs typeface="Poppins Bold"/>
                <a:sym typeface="Poppins Bold"/>
              </a:rPr>
              <a:t>GRC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2688" y="6682094"/>
            <a:ext cx="6949440" cy="592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sz="32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Governança, Risco e Compliance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2688" y="8030229"/>
            <a:ext cx="3950208" cy="46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8"/>
              </a:lnSpc>
            </a:pPr>
            <a:r>
              <a:rPr lang="en-US" sz="2691" i="true">
                <a:solidFill>
                  <a:srgbClr val="E16A00"/>
                </a:solidFill>
                <a:latin typeface="Alice Italics"/>
                <a:ea typeface="Alice Italics"/>
                <a:cs typeface="Alice Italics"/>
                <a:sym typeface="Alice Italics"/>
              </a:rPr>
              <a:t>Giovana Gonçalves Lopes </a:t>
            </a:r>
          </a:p>
        </p:txBody>
      </p:sp>
      <p:sp>
        <p:nvSpPr>
          <p:cNvPr name="TextBox 9" id="9"/>
          <p:cNvSpPr txBox="true"/>
          <p:nvPr/>
        </p:nvSpPr>
        <p:spPr>
          <a:xfrm rot="-226800">
            <a:off x="12412678" y="2063934"/>
            <a:ext cx="1463040" cy="2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b="true" sz="1486" spc="7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GOVERNANÇA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17552" y="2474922"/>
            <a:ext cx="1572768" cy="51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1"/>
              </a:lnSpc>
            </a:pPr>
            <a:r>
              <a:rPr lang="en-US" sz="14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 e decisíes eficazes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17552" y="3699526"/>
            <a:ext cx="640080" cy="2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b="true" sz="1486" spc="7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RISCO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17552" y="4122506"/>
            <a:ext cx="1481328" cy="409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sz="113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Identificação e gestão de ameapas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17552" y="5191141"/>
            <a:ext cx="1353312" cy="2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b="true" sz="1486" spc="7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COMPLIANCE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17552" y="5615021"/>
            <a:ext cx="1755648" cy="417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Conformidade com leis e políticas internas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453360" y="3017860"/>
            <a:ext cx="1078992" cy="701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5"/>
              </a:lnSpc>
            </a:pPr>
            <a:r>
              <a:rPr lang="en-US" b="true" sz="3896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GRC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3287375" cy="10287000"/>
          </a:xfrm>
          <a:custGeom>
            <a:avLst/>
            <a:gdLst/>
            <a:ahLst/>
            <a:cxnLst/>
            <a:rect r="r" b="b" t="t" l="l"/>
            <a:pathLst>
              <a:path h="10287000" w="13287375">
                <a:moveTo>
                  <a:pt x="0" y="0"/>
                </a:moveTo>
                <a:lnTo>
                  <a:pt x="13287375" y="0"/>
                </a:lnTo>
                <a:lnTo>
                  <a:pt x="132873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69264" y="869322"/>
            <a:ext cx="4846320" cy="1483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19"/>
              </a:lnSpc>
            </a:pPr>
            <a:r>
              <a:rPr lang="en-US" sz="10419" spc="-20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 que é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9264" y="2101391"/>
            <a:ext cx="3054096" cy="1621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41"/>
              </a:lnSpc>
            </a:pPr>
            <a:r>
              <a:rPr lang="en-US" b="true" sz="11341" spc="-226">
                <a:solidFill>
                  <a:srgbClr val="E47B1C"/>
                </a:solidFill>
                <a:latin typeface="Poppins Bold"/>
                <a:ea typeface="Poppins Bold"/>
                <a:cs typeface="Poppins Bold"/>
                <a:sym typeface="Poppins Bold"/>
              </a:rPr>
              <a:t>GRC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9264" y="3943063"/>
            <a:ext cx="7296912" cy="162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49" spc="-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Um modelo integrado que alinha governança, gestão de riscos e conformidade para gerar decisões melhores, mitigar ameaças e aproveitar oportunidades com confiança.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66775" y="6000750"/>
            <a:ext cx="7191375" cy="219075"/>
          </a:xfrm>
          <a:custGeom>
            <a:avLst/>
            <a:gdLst/>
            <a:ahLst/>
            <a:cxnLst/>
            <a:rect r="r" b="b" t="t" l="l"/>
            <a:pathLst>
              <a:path h="219075" w="7191375">
                <a:moveTo>
                  <a:pt x="0" y="0"/>
                </a:moveTo>
                <a:lnTo>
                  <a:pt x="7191375" y="0"/>
                </a:lnTo>
                <a:lnTo>
                  <a:pt x="7191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69264" y="6378874"/>
            <a:ext cx="2267712" cy="412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2"/>
              </a:lnSpc>
            </a:pPr>
            <a:r>
              <a:rPr lang="en-US" b="true" sz="2514" spc="-50">
                <a:solidFill>
                  <a:srgbClr val="E47B1C"/>
                </a:solidFill>
                <a:latin typeface="Poppins Bold"/>
                <a:ea typeface="Poppins Bold"/>
                <a:cs typeface="Poppins Bold"/>
                <a:sym typeface="Poppins Bold"/>
              </a:rPr>
              <a:t>GOVERNANÇA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9264" y="6812054"/>
            <a:ext cx="5687568" cy="348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2088" spc="-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 para tomada de decisões eficazes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9264" y="7459347"/>
            <a:ext cx="1005840" cy="421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b="true" sz="2620" spc="-52">
                <a:solidFill>
                  <a:srgbClr val="E47B1C"/>
                </a:solidFill>
                <a:latin typeface="Poppins Bold"/>
                <a:ea typeface="Poppins Bold"/>
                <a:cs typeface="Poppins Bold"/>
                <a:sym typeface="Poppins Bold"/>
              </a:rPr>
              <a:t>RISCO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9264" y="7892189"/>
            <a:ext cx="6821424" cy="348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2088" spc="-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Identificação e gestão de ameaças e oportunidades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9264" y="8539369"/>
            <a:ext cx="2139696" cy="42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1"/>
              </a:lnSpc>
            </a:pPr>
            <a:r>
              <a:rPr lang="en-US" b="true" sz="2585" spc="-51">
                <a:solidFill>
                  <a:srgbClr val="E47B1C"/>
                </a:solidFill>
                <a:latin typeface="Poppins Bold"/>
                <a:ea typeface="Poppins Bold"/>
                <a:cs typeface="Poppins Bold"/>
                <a:sym typeface="Poppins Bold"/>
              </a:rPr>
              <a:t>COMPLIANCE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9264" y="8977312"/>
            <a:ext cx="6821424" cy="34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15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Conformidade com leis, normas e políticas internas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95344" y="2089615"/>
            <a:ext cx="768096" cy="164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18"/>
              </a:lnSpc>
            </a:pPr>
            <a:r>
              <a:rPr lang="en-US" b="true" sz="11518" spc="-2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77824" y="611123"/>
            <a:ext cx="13149072" cy="248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85"/>
              </a:lnSpc>
            </a:pPr>
            <a:r>
              <a:rPr lang="en-US" sz="9285" spc="-46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Componentes Principais do </a:t>
            </a:r>
            <a:r>
              <a:rPr lang="en-US" sz="9285" spc="-464" b="true">
                <a:solidFill>
                  <a:srgbClr val="E47624"/>
                </a:solidFill>
                <a:latin typeface="Poppins Bold"/>
                <a:ea typeface="Poppins Bold"/>
                <a:cs typeface="Poppins Bold"/>
                <a:sym typeface="Poppins Bold"/>
              </a:rPr>
              <a:t>GRC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66775" y="3429000"/>
            <a:ext cx="5667375" cy="5143500"/>
          </a:xfrm>
          <a:custGeom>
            <a:avLst/>
            <a:gdLst/>
            <a:ahLst/>
            <a:cxnLst/>
            <a:rect r="r" b="b" t="t" l="l"/>
            <a:pathLst>
              <a:path h="5143500" w="5667375">
                <a:moveTo>
                  <a:pt x="0" y="0"/>
                </a:moveTo>
                <a:lnTo>
                  <a:pt x="5667375" y="0"/>
                </a:lnTo>
                <a:lnTo>
                  <a:pt x="5667375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17904" y="3982924"/>
            <a:ext cx="1316736" cy="1530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73"/>
              </a:lnSpc>
            </a:pPr>
            <a:r>
              <a:rPr lang="en-US" sz="10773" spc="-538" b="true">
                <a:solidFill>
                  <a:srgbClr val="E47624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17904" y="5604082"/>
            <a:ext cx="2926080" cy="454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8"/>
              </a:lnSpc>
            </a:pPr>
            <a:r>
              <a:rPr lang="en-US" b="true" sz="3258" spc="-65">
                <a:solidFill>
                  <a:srgbClr val="E47624"/>
                </a:solidFill>
                <a:latin typeface="Poppins Bold"/>
                <a:ea typeface="Poppins Bold"/>
                <a:cs typeface="Poppins Bold"/>
                <a:sym typeface="Poppins Bold"/>
              </a:rPr>
              <a:t>GOVERNANÇA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7904" y="6281160"/>
            <a:ext cx="4315968" cy="1436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4"/>
              </a:lnSpc>
            </a:pPr>
            <a:r>
              <a:rPr lang="en-US" sz="2549" spc="-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Direcionamento e estrutura para decisões consistentes e responsáveis.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305550" y="3429000"/>
            <a:ext cx="5457825" cy="5143500"/>
          </a:xfrm>
          <a:custGeom>
            <a:avLst/>
            <a:gdLst/>
            <a:ahLst/>
            <a:cxnLst/>
            <a:rect r="r" b="b" t="t" l="l"/>
            <a:pathLst>
              <a:path h="5143500" w="5457825">
                <a:moveTo>
                  <a:pt x="0" y="0"/>
                </a:moveTo>
                <a:lnTo>
                  <a:pt x="5457825" y="0"/>
                </a:lnTo>
                <a:lnTo>
                  <a:pt x="5457825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967728" y="3982924"/>
            <a:ext cx="1572768" cy="1530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73"/>
              </a:lnSpc>
            </a:pPr>
            <a:r>
              <a:rPr lang="en-US" sz="10773" spc="-538" b="true">
                <a:solidFill>
                  <a:srgbClr val="E47624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67728" y="5603632"/>
            <a:ext cx="3840480" cy="45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b="true" sz="3294" spc="-65">
                <a:solidFill>
                  <a:srgbClr val="E47624"/>
                </a:solidFill>
                <a:latin typeface="Poppins Bold"/>
                <a:ea typeface="Poppins Bold"/>
                <a:cs typeface="Poppins Bold"/>
                <a:sym typeface="Poppins Bold"/>
              </a:rPr>
              <a:t>GESTÃO DE RISCOS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67728" y="6290010"/>
            <a:ext cx="3712464" cy="1428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1"/>
              </a:lnSpc>
            </a:pPr>
            <a:r>
              <a:rPr lang="en-US" sz="2514" spc="-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Identificação, avaliação e mitigação contínuas para proteger o valor.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534775" y="3429000"/>
            <a:ext cx="5886450" cy="5143500"/>
          </a:xfrm>
          <a:custGeom>
            <a:avLst/>
            <a:gdLst/>
            <a:ahLst/>
            <a:cxnLst/>
            <a:rect r="r" b="b" t="t" l="l"/>
            <a:pathLst>
              <a:path h="5143500" w="5886450">
                <a:moveTo>
                  <a:pt x="0" y="0"/>
                </a:moveTo>
                <a:lnTo>
                  <a:pt x="5886450" y="0"/>
                </a:lnTo>
                <a:lnTo>
                  <a:pt x="588645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234672" y="3979062"/>
            <a:ext cx="1572768" cy="1529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03"/>
              </a:lnSpc>
            </a:pPr>
            <a:r>
              <a:rPr lang="en-US" sz="10703" spc="-535" b="true">
                <a:solidFill>
                  <a:srgbClr val="E47624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34672" y="5603632"/>
            <a:ext cx="2706624" cy="45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b="true" sz="3294" spc="-65">
                <a:solidFill>
                  <a:srgbClr val="E47624"/>
                </a:solidFill>
                <a:latin typeface="Poppins Bold"/>
                <a:ea typeface="Poppins Bold"/>
                <a:cs typeface="Poppins Bold"/>
                <a:sym typeface="Poppins Bold"/>
              </a:rPr>
              <a:t>COMPLIANCE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34672" y="6290010"/>
            <a:ext cx="4261104" cy="1428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1"/>
              </a:lnSpc>
            </a:pPr>
            <a:r>
              <a:rPr lang="en-US" sz="2514" spc="-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Conformidade assegurada por controles, auditorias</a:t>
            </a:r>
          </a:p>
          <a:p>
            <a:pPr algn="l">
              <a:lnSpc>
                <a:spcPts val="3771"/>
              </a:lnSpc>
            </a:pPr>
            <a:r>
              <a:rPr lang="en-US" sz="2514" spc="-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 capacitação.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07008" y="4200484"/>
            <a:ext cx="768096" cy="914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8"/>
              </a:lnSpc>
            </a:pPr>
            <a:r>
              <a:rPr lang="en-US" sz="6378" spc="-382" b="true">
                <a:solidFill>
                  <a:srgbClr val="D46B00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390775" y="3857625"/>
            <a:ext cx="447675" cy="1285875"/>
          </a:xfrm>
          <a:custGeom>
            <a:avLst/>
            <a:gdLst/>
            <a:ahLst/>
            <a:cxnLst/>
            <a:rect r="r" b="b" t="t" l="l"/>
            <a:pathLst>
              <a:path h="1285875" w="447675">
                <a:moveTo>
                  <a:pt x="0" y="0"/>
                </a:moveTo>
                <a:lnTo>
                  <a:pt x="447675" y="0"/>
                </a:lnTo>
                <a:lnTo>
                  <a:pt x="4476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108960" y="4202772"/>
            <a:ext cx="4023360" cy="78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6"/>
              </a:lnSpc>
            </a:pPr>
            <a:r>
              <a:rPr lang="en-US" sz="262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melhoria na tomada de decisões estratégicas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66775" y="5143500"/>
            <a:ext cx="8715375" cy="219075"/>
          </a:xfrm>
          <a:custGeom>
            <a:avLst/>
            <a:gdLst/>
            <a:ahLst/>
            <a:cxnLst/>
            <a:rect r="r" b="b" t="t" l="l"/>
            <a:pathLst>
              <a:path h="219075" w="8715375">
                <a:moveTo>
                  <a:pt x="0" y="0"/>
                </a:moveTo>
                <a:lnTo>
                  <a:pt x="8715375" y="0"/>
                </a:lnTo>
                <a:lnTo>
                  <a:pt x="871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52144" y="5589229"/>
            <a:ext cx="932688" cy="914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8"/>
              </a:lnSpc>
            </a:pPr>
            <a:r>
              <a:rPr lang="en-US" sz="6378" spc="-382" b="true">
                <a:solidFill>
                  <a:srgbClr val="D46B00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390775" y="5353050"/>
            <a:ext cx="447675" cy="1295400"/>
          </a:xfrm>
          <a:custGeom>
            <a:avLst/>
            <a:gdLst/>
            <a:ahLst/>
            <a:cxnLst/>
            <a:rect r="r" b="b" t="t" l="l"/>
            <a:pathLst>
              <a:path h="1295400" w="447675">
                <a:moveTo>
                  <a:pt x="0" y="0"/>
                </a:moveTo>
                <a:lnTo>
                  <a:pt x="447675" y="0"/>
                </a:lnTo>
                <a:lnTo>
                  <a:pt x="4476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108960" y="5591584"/>
            <a:ext cx="4498848" cy="781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5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redução de perdas financeiras e reputacionais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66775" y="6429375"/>
            <a:ext cx="8715375" cy="428625"/>
          </a:xfrm>
          <a:custGeom>
            <a:avLst/>
            <a:gdLst/>
            <a:ahLst/>
            <a:cxnLst/>
            <a:rect r="r" b="b" t="t" l="l"/>
            <a:pathLst>
              <a:path h="428625" w="8715375">
                <a:moveTo>
                  <a:pt x="0" y="0"/>
                </a:moveTo>
                <a:lnTo>
                  <a:pt x="8715375" y="0"/>
                </a:lnTo>
                <a:lnTo>
                  <a:pt x="87153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52144" y="6977974"/>
            <a:ext cx="932688" cy="914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8"/>
              </a:lnSpc>
            </a:pPr>
            <a:r>
              <a:rPr lang="en-US" sz="6378" spc="-382" b="true">
                <a:solidFill>
                  <a:srgbClr val="D46B00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390775" y="6638925"/>
            <a:ext cx="447675" cy="1295400"/>
          </a:xfrm>
          <a:custGeom>
            <a:avLst/>
            <a:gdLst/>
            <a:ahLst/>
            <a:cxnLst/>
            <a:rect r="r" b="b" t="t" l="l"/>
            <a:pathLst>
              <a:path h="1295400" w="447675">
                <a:moveTo>
                  <a:pt x="0" y="0"/>
                </a:moveTo>
                <a:lnTo>
                  <a:pt x="447675" y="0"/>
                </a:lnTo>
                <a:lnTo>
                  <a:pt x="4476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108960" y="6932096"/>
            <a:ext cx="4315968" cy="87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7"/>
              </a:lnSpc>
            </a:pPr>
            <a:r>
              <a:rPr lang="en-US" sz="290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adequação regulatória e menor risco legal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66775" y="7924800"/>
            <a:ext cx="8715375" cy="219075"/>
          </a:xfrm>
          <a:custGeom>
            <a:avLst/>
            <a:gdLst/>
            <a:ahLst/>
            <a:cxnLst/>
            <a:rect r="r" b="b" t="t" l="l"/>
            <a:pathLst>
              <a:path h="219075" w="8715375">
                <a:moveTo>
                  <a:pt x="0" y="0"/>
                </a:moveTo>
                <a:lnTo>
                  <a:pt x="8715375" y="0"/>
                </a:lnTo>
                <a:lnTo>
                  <a:pt x="871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52144" y="8373421"/>
            <a:ext cx="950976" cy="88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6165" spc="-369" b="true">
                <a:solidFill>
                  <a:srgbClr val="D46B00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390775" y="8143875"/>
            <a:ext cx="447675" cy="1285875"/>
          </a:xfrm>
          <a:custGeom>
            <a:avLst/>
            <a:gdLst/>
            <a:ahLst/>
            <a:cxnLst/>
            <a:rect r="r" b="b" t="t" l="l"/>
            <a:pathLst>
              <a:path h="1285875" w="447675">
                <a:moveTo>
                  <a:pt x="0" y="0"/>
                </a:moveTo>
                <a:lnTo>
                  <a:pt x="447675" y="0"/>
                </a:lnTo>
                <a:lnTo>
                  <a:pt x="4476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108960" y="8310825"/>
            <a:ext cx="4462272" cy="85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sz="27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aumento da confiança de investidores e clientes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1221013"/>
            <a:ext cx="10863072" cy="190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7"/>
              </a:lnSpc>
            </a:pPr>
            <a:r>
              <a:rPr lang="en-US" sz="7087" spc="-42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Benefícios do</a:t>
            </a:r>
          </a:p>
          <a:p>
            <a:pPr algn="l">
              <a:lnSpc>
                <a:spcPts val="7087"/>
              </a:lnSpc>
            </a:pPr>
            <a:r>
              <a:rPr lang="en-US" sz="7087" spc="-425" b="true">
                <a:solidFill>
                  <a:srgbClr val="D46B00"/>
                </a:solidFill>
                <a:latin typeface="Poppins Bold"/>
                <a:ea typeface="Poppins Bold"/>
                <a:cs typeface="Poppins Bold"/>
                <a:sym typeface="Poppins Bold"/>
              </a:rPr>
              <a:t>GRC</a:t>
            </a:r>
            <a:r>
              <a:rPr lang="en-US" sz="7087" spc="-42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para as organizações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69264" y="852225"/>
            <a:ext cx="9162288" cy="2188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0"/>
              </a:lnSpc>
            </a:pPr>
            <a:r>
              <a:rPr lang="en-US" sz="8150" spc="-40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Próximos passos para implementar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9264" y="2932817"/>
            <a:ext cx="2523744" cy="1368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39"/>
              </a:lnSpc>
            </a:pPr>
            <a:r>
              <a:rPr lang="en-US" b="true" sz="9639" spc="-481">
                <a:solidFill>
                  <a:srgbClr val="D46B00"/>
                </a:solidFill>
                <a:latin typeface="Poppins Bold"/>
                <a:ea typeface="Poppins Bold"/>
                <a:cs typeface="Poppins Bold"/>
                <a:sym typeface="Poppins Bold"/>
              </a:rPr>
              <a:t>GRC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66775" y="4924425"/>
            <a:ext cx="657225" cy="4076700"/>
          </a:xfrm>
          <a:custGeom>
            <a:avLst/>
            <a:gdLst/>
            <a:ahLst/>
            <a:cxnLst/>
            <a:rect r="r" b="b" t="t" l="l"/>
            <a:pathLst>
              <a:path h="4076700" w="657225">
                <a:moveTo>
                  <a:pt x="0" y="0"/>
                </a:moveTo>
                <a:lnTo>
                  <a:pt x="657225" y="0"/>
                </a:lnTo>
                <a:lnTo>
                  <a:pt x="65722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54480" y="4705117"/>
            <a:ext cx="694944" cy="789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b="true" sz="5598" spc="-279">
                <a:solidFill>
                  <a:srgbClr val="D46B00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609850" y="4495800"/>
            <a:ext cx="228600" cy="1076325"/>
          </a:xfrm>
          <a:custGeom>
            <a:avLst/>
            <a:gdLst/>
            <a:ahLst/>
            <a:cxnLst/>
            <a:rect r="r" b="b" t="t" l="l"/>
            <a:pathLst>
              <a:path h="1076325" w="228600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236976" y="4636960"/>
            <a:ext cx="3584448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656" spc="-1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Avaliar o cenário atual</a:t>
            </a:r>
          </a:p>
          <a:p>
            <a:pPr algn="l">
              <a:lnSpc>
                <a:spcPts val="3187"/>
              </a:lnSpc>
            </a:pPr>
            <a:r>
              <a:rPr lang="en-US" sz="2656" spc="-1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 organização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17904" y="5986818"/>
            <a:ext cx="786384" cy="777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b="true" sz="5491" spc="-274">
                <a:solidFill>
                  <a:srgbClr val="D46B00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609850" y="5781675"/>
            <a:ext cx="228600" cy="1076325"/>
          </a:xfrm>
          <a:custGeom>
            <a:avLst/>
            <a:gdLst/>
            <a:ahLst/>
            <a:cxnLst/>
            <a:rect r="r" b="b" t="t" l="l"/>
            <a:pathLst>
              <a:path h="1076325" w="228600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236976" y="5912548"/>
            <a:ext cx="4005072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656" spc="-1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Definir responsabilidades</a:t>
            </a:r>
          </a:p>
          <a:p>
            <a:pPr algn="l">
              <a:lnSpc>
                <a:spcPts val="3187"/>
              </a:lnSpc>
            </a:pPr>
            <a:r>
              <a:rPr lang="en-US" sz="2656" spc="-1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 criar políticas claras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17904" y="7264207"/>
            <a:ext cx="786384" cy="76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0"/>
              </a:lnSpc>
            </a:pPr>
            <a:r>
              <a:rPr lang="en-US" b="true" sz="5350" spc="-267">
                <a:solidFill>
                  <a:srgbClr val="D46B00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609850" y="7067550"/>
            <a:ext cx="228600" cy="1076325"/>
          </a:xfrm>
          <a:custGeom>
            <a:avLst/>
            <a:gdLst/>
            <a:ahLst/>
            <a:cxnLst/>
            <a:rect r="r" b="b" t="t" l="l"/>
            <a:pathLst>
              <a:path h="1076325" w="228600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236976" y="7188136"/>
            <a:ext cx="5285232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656" spc="-1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Investir em ferramentas</a:t>
            </a:r>
          </a:p>
          <a:p>
            <a:pPr algn="l">
              <a:lnSpc>
                <a:spcPts val="3187"/>
              </a:lnSpc>
            </a:pPr>
            <a:r>
              <a:rPr lang="en-US" sz="2656" spc="-1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 monitoramento e treinamento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17904" y="8547259"/>
            <a:ext cx="804672" cy="7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7"/>
              </a:lnSpc>
            </a:pPr>
            <a:r>
              <a:rPr lang="en-US" b="true" sz="5137" spc="-256">
                <a:solidFill>
                  <a:srgbClr val="D46B00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609850" y="8353425"/>
            <a:ext cx="228600" cy="1076325"/>
          </a:xfrm>
          <a:custGeom>
            <a:avLst/>
            <a:gdLst/>
            <a:ahLst/>
            <a:cxnLst/>
            <a:rect r="r" b="b" t="t" l="l"/>
            <a:pathLst>
              <a:path h="1076325" w="228600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236976" y="8463724"/>
            <a:ext cx="6473952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656" spc="-1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Monitorar continuamente</a:t>
            </a:r>
          </a:p>
          <a:p>
            <a:pPr algn="l">
              <a:lnSpc>
                <a:spcPts val="3187"/>
              </a:lnSpc>
            </a:pPr>
            <a:r>
              <a:rPr lang="en-US" sz="2656" spc="-1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 ajustar processos conforme necessário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DAHUGgEp2Cs</dc:identifier>
  <dcterms:modified xsi:type="dcterms:W3CDTF">2011-08-01T06:04:30Z</dcterms:modified>
  <cp:revision>1</cp:revision>
  <dc:title>GRC </dc:title>
</cp:coreProperties>
</file>